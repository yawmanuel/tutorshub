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8" r:id="rId3"/>
    <p:sldId id="257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0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0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520C1-BD94-446C-BBFB-29FD7AC77B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0129C-7ED3-4CE6-A801-52FA24D58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35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520C1-BD94-446C-BBFB-29FD7AC77B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0129C-7ED3-4CE6-A801-52FA24D58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69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520C1-BD94-446C-BBFB-29FD7AC77B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0129C-7ED3-4CE6-A801-52FA24D58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419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520C1-BD94-446C-BBFB-29FD7AC77B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0129C-7ED3-4CE6-A801-52FA24D58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187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520C1-BD94-446C-BBFB-29FD7AC77B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0129C-7ED3-4CE6-A801-52FA24D58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406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520C1-BD94-446C-BBFB-29FD7AC77B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0129C-7ED3-4CE6-A801-52FA24D58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83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520C1-BD94-446C-BBFB-29FD7AC77B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0129C-7ED3-4CE6-A801-52FA24D58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64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520C1-BD94-446C-BBFB-29FD7AC77B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0129C-7ED3-4CE6-A801-52FA24D58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323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520C1-BD94-446C-BBFB-29FD7AC77B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0129C-7ED3-4CE6-A801-52FA24D58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520C1-BD94-446C-BBFB-29FD7AC77B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0129C-7ED3-4CE6-A801-52FA24D58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15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520C1-BD94-446C-BBFB-29FD7AC77B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0129C-7ED3-4CE6-A801-52FA24D58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24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520C1-BD94-446C-BBFB-29FD7AC77B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0129C-7ED3-4CE6-A801-52FA24D58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824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847" t="10163" r="7151" b="11979"/>
          <a:stretch/>
        </p:blipFill>
        <p:spPr>
          <a:xfrm>
            <a:off x="0" y="0"/>
            <a:ext cx="2772258" cy="18803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3442" t="10825"/>
          <a:stretch/>
        </p:blipFill>
        <p:spPr>
          <a:xfrm>
            <a:off x="4539219" y="0"/>
            <a:ext cx="3052460" cy="18803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4122" y="0"/>
            <a:ext cx="3347878" cy="1880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546242"/>
            <a:ext cx="3618964" cy="180948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8009" y="4536602"/>
            <a:ext cx="2797218" cy="183200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425" y="4180814"/>
            <a:ext cx="2627290" cy="17549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515" y="1828797"/>
            <a:ext cx="2682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orte" panose="03060902040502070203" pitchFamily="66" charset="0"/>
              </a:rPr>
              <a:t>Online tutoring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8009" y="1828797"/>
            <a:ext cx="2867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orte" panose="03060902040502070203" pitchFamily="66" charset="0"/>
              </a:rPr>
              <a:t>Online help tutor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6420" y="1828797"/>
            <a:ext cx="3333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orte" panose="03060902040502070203" pitchFamily="66" charset="0"/>
              </a:rPr>
              <a:t>Online practice 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277" y="6321901"/>
            <a:ext cx="33892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orte" panose="03060902040502070203" pitchFamily="66" charset="0"/>
              </a:rPr>
              <a:t>Online study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9062" y="6355724"/>
            <a:ext cx="44469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orte" panose="03060902040502070203" pitchFamily="66" charset="0"/>
              </a:rPr>
              <a:t>Online academic 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1549" y="5955614"/>
            <a:ext cx="299883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Forte" panose="03060902040502070203" pitchFamily="66" charset="0"/>
              </a:rPr>
              <a:t>Online tutorials </a:t>
            </a:r>
          </a:p>
          <a:p>
            <a:r>
              <a:rPr lang="en-US" dirty="0">
                <a:latin typeface="Forte" panose="03060902040502070203" pitchFamily="66" charset="0"/>
              </a:rPr>
              <a:t>           (with videos)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3" t="19530" r="10773" b="34648"/>
          <a:stretch/>
        </p:blipFill>
        <p:spPr>
          <a:xfrm>
            <a:off x="4543211" y="2844609"/>
            <a:ext cx="2465887" cy="932832"/>
          </a:xfrm>
          <a:prstGeom prst="rect">
            <a:avLst/>
          </a:prstGeom>
        </p:spPr>
      </p:pic>
      <p:sp>
        <p:nvSpPr>
          <p:cNvPr id="17" name="Explosion 2 16"/>
          <p:cNvSpPr/>
          <p:nvPr/>
        </p:nvSpPr>
        <p:spPr>
          <a:xfrm rot="556583">
            <a:off x="3177483" y="2195999"/>
            <a:ext cx="5464068" cy="2709146"/>
          </a:xfrm>
          <a:prstGeom prst="irregularSeal2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668009" y="3744547"/>
            <a:ext cx="2505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0070C0"/>
                </a:solidFill>
              </a:rPr>
              <a:t>www.tutorshubgh.com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1146" y="3907384"/>
            <a:ext cx="1815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Forte" panose="03060902040502070203" pitchFamily="66" charset="0"/>
              </a:rPr>
              <a:t>The New App</a:t>
            </a:r>
          </a:p>
        </p:txBody>
      </p:sp>
      <p:sp>
        <p:nvSpPr>
          <p:cNvPr id="20" name="Up Arrow 19"/>
          <p:cNvSpPr/>
          <p:nvPr/>
        </p:nvSpPr>
        <p:spPr>
          <a:xfrm rot="18077431">
            <a:off x="2835697" y="2092700"/>
            <a:ext cx="218920" cy="1007368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Up Arrow 20"/>
          <p:cNvSpPr/>
          <p:nvPr/>
        </p:nvSpPr>
        <p:spPr>
          <a:xfrm rot="2852051">
            <a:off x="8602367" y="2303814"/>
            <a:ext cx="216305" cy="1007368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Up Arrow 21"/>
          <p:cNvSpPr/>
          <p:nvPr/>
        </p:nvSpPr>
        <p:spPr>
          <a:xfrm rot="13413145">
            <a:off x="2982571" y="4113744"/>
            <a:ext cx="274643" cy="1007368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Up Arrow 22"/>
          <p:cNvSpPr/>
          <p:nvPr/>
        </p:nvSpPr>
        <p:spPr>
          <a:xfrm rot="7416149">
            <a:off x="8411001" y="3710659"/>
            <a:ext cx="229448" cy="1007368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Up Arrow 23"/>
          <p:cNvSpPr/>
          <p:nvPr/>
        </p:nvSpPr>
        <p:spPr>
          <a:xfrm rot="10620595">
            <a:off x="5902569" y="4289590"/>
            <a:ext cx="228856" cy="440466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Up Arrow 24"/>
          <p:cNvSpPr/>
          <p:nvPr/>
        </p:nvSpPr>
        <p:spPr>
          <a:xfrm>
            <a:off x="5666505" y="2242836"/>
            <a:ext cx="237307" cy="457441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076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577" y="1651715"/>
            <a:ext cx="5719025" cy="326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385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9094" y="2562896"/>
            <a:ext cx="35030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Forte" panose="03060902040502070203" pitchFamily="66" charset="0"/>
              </a:rPr>
              <a:t>Online tutoring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Forte" panose="03060902040502070203" pitchFamily="66" charset="0"/>
              </a:rPr>
              <a:t>Online tutorials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Forte" panose="03060902040502070203" pitchFamily="66" charset="0"/>
              </a:rPr>
              <a:t>Join customized groups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Forte" panose="03060902040502070203" pitchFamily="66" charset="0"/>
              </a:rPr>
              <a:t>Monthly payments/subscription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63792" y="2333685"/>
            <a:ext cx="350305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Online tutoring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Online tutorials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Online help tutor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Online study groups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Online practice rooms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Academic challenges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Join customized groups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Monthly payments/subscription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8491" y="2333685"/>
            <a:ext cx="350305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70C0"/>
                </a:solidFill>
                <a:latin typeface="Forte" panose="03060902040502070203" pitchFamily="66" charset="0"/>
              </a:rPr>
              <a:t>Online help tutor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70C0"/>
                </a:solidFill>
                <a:latin typeface="Forte" panose="03060902040502070203" pitchFamily="66" charset="0"/>
              </a:rPr>
              <a:t>Online tutorials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70C0"/>
                </a:solidFill>
                <a:latin typeface="Forte" panose="03060902040502070203" pitchFamily="66" charset="0"/>
              </a:rPr>
              <a:t>Online study groups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70C0"/>
                </a:solidFill>
                <a:latin typeface="Forte" panose="03060902040502070203" pitchFamily="66" charset="0"/>
              </a:rPr>
              <a:t>Online practice rooms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70C0"/>
                </a:solidFill>
                <a:latin typeface="Forte" panose="03060902040502070203" pitchFamily="66" charset="0"/>
              </a:rPr>
              <a:t>Academic challenges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70C0"/>
                </a:solidFill>
                <a:latin typeface="Forte" panose="03060902040502070203" pitchFamily="66" charset="0"/>
              </a:rPr>
              <a:t>Join customized groups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70C0"/>
                </a:solidFill>
                <a:latin typeface="Forte" panose="03060902040502070203" pitchFamily="66" charset="0"/>
              </a:rPr>
              <a:t>Annual or Bi-annual payments/subscription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b="7401"/>
          <a:stretch/>
        </p:blipFill>
        <p:spPr>
          <a:xfrm>
            <a:off x="9127195" y="-3"/>
            <a:ext cx="1338665" cy="141667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511" y="0"/>
            <a:ext cx="1709536" cy="17095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b="7401"/>
          <a:stretch/>
        </p:blipFill>
        <p:spPr>
          <a:xfrm>
            <a:off x="5931088" y="146429"/>
            <a:ext cx="1338665" cy="141667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372" y="0"/>
            <a:ext cx="1709536" cy="17095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25325" y="254603"/>
            <a:ext cx="3931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/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773" y="1563107"/>
            <a:ext cx="2086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00B05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Hub Student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0753" y="1607327"/>
            <a:ext cx="2086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0033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Combo Student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6828" y="1563107"/>
            <a:ext cx="2086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3366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Pseudo Student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511" y="6053070"/>
            <a:ext cx="110080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Forte" panose="03060902040502070203" pitchFamily="66" charset="0"/>
              </a:rPr>
              <a:t>NB: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Forte" panose="03060902040502070203" pitchFamily="66" charset="0"/>
              </a:rPr>
              <a:t>There is also a special package for siblings up to 3 who will be taught the same subjects to choose any of the above packages at a discounted offer.</a:t>
            </a:r>
          </a:p>
        </p:txBody>
      </p:sp>
    </p:spTree>
    <p:extLst>
      <p:ext uri="{BB962C8B-B14F-4D97-AF65-F5344CB8AC3E}">
        <p14:creationId xmlns:p14="http://schemas.microsoft.com/office/powerpoint/2010/main" val="335107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5" grpId="0"/>
      <p:bldP spid="17" grpId="0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85622" y="2112135"/>
            <a:ext cx="727656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C00000"/>
                </a:solidFill>
                <a:latin typeface="Forte" panose="03060902040502070203" pitchFamily="66" charset="0"/>
              </a:rPr>
              <a:t>Register as either a ‘Hub Tutor’ or a ‘Help Tutor’ or both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solidFill>
                <a:srgbClr val="C00000"/>
              </a:solidFill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C00000"/>
                </a:solidFill>
                <a:latin typeface="Forte" panose="03060902040502070203" pitchFamily="66" charset="0"/>
              </a:rPr>
              <a:t>Pay subscription fee to complete registration (annual or bi-annual subscription)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solidFill>
                <a:srgbClr val="C00000"/>
              </a:solidFill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C00000"/>
                </a:solidFill>
                <a:latin typeface="Forte" panose="03060902040502070203" pitchFamily="66" charset="0"/>
              </a:rPr>
              <a:t>Link bank account or MOMO account to registration details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solidFill>
                <a:srgbClr val="C00000"/>
              </a:solidFill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C00000"/>
                </a:solidFill>
                <a:latin typeface="Forte" panose="03060902040502070203" pitchFamily="66" charset="0"/>
              </a:rPr>
              <a:t>Remunerated monthly via the app in “TUT COINS”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solidFill>
                <a:srgbClr val="C00000"/>
              </a:solidFill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C00000"/>
                </a:solidFill>
                <a:latin typeface="Forte" panose="03060902040502070203" pitchFamily="66" charset="0"/>
              </a:rPr>
              <a:t>Every payout the tutor makes, the app retains a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7606" y="502277"/>
            <a:ext cx="48810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Forte" panose="03060902040502070203" pitchFamily="66" charset="0"/>
              </a:rPr>
              <a:t>Tutor Subscription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5346" t="8073" r="3887" b="13005"/>
          <a:stretch/>
        </p:blipFill>
        <p:spPr>
          <a:xfrm>
            <a:off x="2343954" y="270456"/>
            <a:ext cx="1867437" cy="175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61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40180" y="463641"/>
            <a:ext cx="48810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Forte" panose="03060902040502070203" pitchFamily="66" charset="0"/>
              </a:rPr>
              <a:t>Online Tutoring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9566" y="2021983"/>
            <a:ext cx="676140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Tutor engages student via google classroom (hangout) linked to the app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Length of every session is between 60 to 90 minutes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After every session, student is supposed to score tutor in points from </a:t>
            </a: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20 – 100 points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Tutor is also supposed to score student monthly in points from </a:t>
            </a: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0 – 10 points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6986"/>
            <a:ext cx="2773920" cy="187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387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45487" y="180306"/>
            <a:ext cx="48810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Forte" panose="03060902040502070203" pitchFamily="66" charset="0"/>
              </a:rPr>
              <a:t>Online Help Tutor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365164"/>
            <a:ext cx="121919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A ‘combo student’ or a ‘pseudo student’ can require the service of a help tutor.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They can submit assignments and essay to get help from the help tutor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This can be done via a google classroom either by a video interaction or without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Duration for this is maximum of </a:t>
            </a: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30 minutes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Student can require the service again for another 30 minutes if the first engagement is not enough.  This will be considered as another session for the help tutor.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Students are expected to score the help tutor in points from </a:t>
            </a: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5 – 30 points</a:t>
            </a:r>
          </a:p>
          <a:p>
            <a:r>
              <a:rPr lang="en-US" sz="2400" dirty="0">
                <a:latin typeface="Forte" panose="03060902040502070203" pitchFamily="66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A particular help tutor can only be engaged </a:t>
            </a: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2x by the same student each day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189" y="0"/>
            <a:ext cx="1893326" cy="116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318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56090" y="170927"/>
            <a:ext cx="48810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Forte" panose="03060902040502070203" pitchFamily="66" charset="0"/>
              </a:rPr>
              <a:t>Online Academic Challenge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914" y="172488"/>
            <a:ext cx="2798307" cy="18350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60620" y="2279561"/>
            <a:ext cx="90023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Students can engage in healthy quizzes or tests competitions with their mates in their schools or different schools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Online tutors can also use this platform to test students they have been teaching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Any student that wins any challenge is awarded </a:t>
            </a: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points up to 5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The more winning the more points</a:t>
            </a:r>
          </a:p>
        </p:txBody>
      </p:sp>
    </p:spTree>
    <p:extLst>
      <p:ext uri="{BB962C8B-B14F-4D97-AF65-F5344CB8AC3E}">
        <p14:creationId xmlns:p14="http://schemas.microsoft.com/office/powerpoint/2010/main" val="1651283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16191" y="313094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sz="4800" dirty="0">
                <a:solidFill>
                  <a:prstClr val="black"/>
                </a:solidFill>
                <a:latin typeface="Forte" panose="03060902040502070203" pitchFamily="66" charset="0"/>
              </a:rPr>
              <a:t>Online Practice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529" y="3039415"/>
            <a:ext cx="87318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Students will have access to </a:t>
            </a:r>
            <a:r>
              <a:rPr lang="en-US" sz="2400" dirty="0">
                <a:solidFill>
                  <a:srgbClr val="92D050"/>
                </a:solidFill>
                <a:latin typeface="Forte" panose="03060902040502070203" pitchFamily="66" charset="0"/>
              </a:rPr>
              <a:t>past questions</a:t>
            </a:r>
            <a:r>
              <a:rPr lang="en-US" sz="2400" dirty="0">
                <a:latin typeface="Forte" panose="03060902040502070203" pitchFamily="66" charset="0"/>
              </a:rPr>
              <a:t>, </a:t>
            </a:r>
            <a:r>
              <a:rPr lang="en-US" sz="2400" dirty="0">
                <a:solidFill>
                  <a:srgbClr val="00B0F0"/>
                </a:solidFill>
                <a:latin typeface="Forte" panose="03060902040502070203" pitchFamily="66" charset="0"/>
              </a:rPr>
              <a:t>trial questions</a:t>
            </a:r>
            <a:r>
              <a:rPr lang="en-US" sz="2400" dirty="0">
                <a:latin typeface="Forte" panose="03060902040502070203" pitchFamily="66" charset="0"/>
              </a:rPr>
              <a:t>, </a:t>
            </a:r>
            <a:r>
              <a:rPr lang="en-US" sz="2400" dirty="0">
                <a:solidFill>
                  <a:srgbClr val="002060"/>
                </a:solidFill>
                <a:latin typeface="Forte" panose="03060902040502070203" pitchFamily="66" charset="0"/>
              </a:rPr>
              <a:t>sample examination questions </a:t>
            </a:r>
            <a:r>
              <a:rPr lang="en-US" sz="2400" dirty="0">
                <a:latin typeface="Forte" panose="03060902040502070203" pitchFamily="66" charset="0"/>
              </a:rPr>
              <a:t>as well as </a:t>
            </a:r>
            <a:r>
              <a:rPr lang="en-US" sz="2400" dirty="0">
                <a:solidFill>
                  <a:schemeClr val="accent2"/>
                </a:solidFill>
                <a:latin typeface="Forte" panose="03060902040502070203" pitchFamily="66" charset="0"/>
              </a:rPr>
              <a:t>some aptitude test questions</a:t>
            </a:r>
            <a:r>
              <a:rPr lang="en-US" sz="2400" dirty="0">
                <a:latin typeface="Forte" panose="03060902040502070203" pitchFamily="66" charset="0"/>
              </a:rPr>
              <a:t> on any subject they 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They can solve these questions and get feedbacks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6" y="205225"/>
            <a:ext cx="3346994" cy="187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800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77555" y="429004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sz="4800" dirty="0">
                <a:solidFill>
                  <a:prstClr val="black"/>
                </a:solidFill>
                <a:latin typeface="Forte" panose="03060902040502070203" pitchFamily="66" charset="0"/>
              </a:rPr>
              <a:t>Online Tutorial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48506" y="3309870"/>
            <a:ext cx="79076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800" dirty="0">
                <a:latin typeface="Forte" panose="03060902040502070203" pitchFamily="66" charset="0"/>
              </a:rPr>
              <a:t>Students can get access to </a:t>
            </a:r>
            <a:r>
              <a:rPr lang="en-US" sz="2800" dirty="0">
                <a:solidFill>
                  <a:srgbClr val="FF0000"/>
                </a:solidFill>
                <a:latin typeface="Forte" panose="03060902040502070203" pitchFamily="66" charset="0"/>
              </a:rPr>
              <a:t>videos on any subject topic </a:t>
            </a:r>
            <a:r>
              <a:rPr lang="en-US" sz="2800" dirty="0">
                <a:latin typeface="Forte" panose="03060902040502070203" pitchFamily="66" charset="0"/>
              </a:rPr>
              <a:t>which they can use to </a:t>
            </a:r>
            <a:r>
              <a:rPr lang="en-US" sz="2800" dirty="0">
                <a:solidFill>
                  <a:srgbClr val="0070C0"/>
                </a:solidFill>
                <a:latin typeface="Forte" panose="03060902040502070203" pitchFamily="66" charset="0"/>
              </a:rPr>
              <a:t>teach themselves at their own pace</a:t>
            </a:r>
            <a:r>
              <a:rPr lang="en-US" sz="2800" dirty="0">
                <a:latin typeface="Forte" panose="03060902040502070203" pitchFamily="66" charset="0"/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18" y="1704668"/>
            <a:ext cx="2627604" cy="17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677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89" y="256983"/>
            <a:ext cx="3621338" cy="181066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825285" y="519157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sz="4800" dirty="0">
                <a:solidFill>
                  <a:prstClr val="black"/>
                </a:solidFill>
                <a:latin typeface="Forte" panose="03060902040502070203" pitchFamily="66" charset="0"/>
              </a:rPr>
              <a:t>Online Study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8649" y="2421228"/>
            <a:ext cx="94273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800" dirty="0">
                <a:latin typeface="Forte" panose="03060902040502070203" pitchFamily="66" charset="0"/>
              </a:rPr>
              <a:t>Students can </a:t>
            </a:r>
            <a:r>
              <a:rPr lang="en-US" sz="2800" dirty="0">
                <a:solidFill>
                  <a:srgbClr val="0070C0"/>
                </a:solidFill>
                <a:latin typeface="Forte" panose="03060902040502070203" pitchFamily="66" charset="0"/>
              </a:rPr>
              <a:t>connect to other subscribed students </a:t>
            </a:r>
            <a:r>
              <a:rPr lang="en-US" sz="2800" dirty="0">
                <a:latin typeface="Forte" panose="03060902040502070203" pitchFamily="66" charset="0"/>
              </a:rPr>
              <a:t>on the app to discuss subjects or have an </a:t>
            </a:r>
            <a:r>
              <a:rPr lang="en-US" sz="2800" dirty="0">
                <a:solidFill>
                  <a:srgbClr val="FF0000"/>
                </a:solidFill>
                <a:latin typeface="Forte" panose="03060902040502070203" pitchFamily="66" charset="0"/>
              </a:rPr>
              <a:t>academic interactions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8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8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800" dirty="0">
                <a:latin typeface="Forte" panose="03060902040502070203" pitchFamily="66" charset="0"/>
              </a:rPr>
              <a:t>This platform could also be used to </a:t>
            </a:r>
            <a:r>
              <a:rPr lang="en-US" sz="2800" dirty="0">
                <a:solidFill>
                  <a:srgbClr val="FF0000"/>
                </a:solidFill>
                <a:latin typeface="Forte" panose="03060902040502070203" pitchFamily="66" charset="0"/>
              </a:rPr>
              <a:t>host meetings </a:t>
            </a:r>
            <a:r>
              <a:rPr lang="en-US" sz="2800" dirty="0">
                <a:latin typeface="Forte" panose="03060902040502070203" pitchFamily="66" charset="0"/>
              </a:rPr>
              <a:t>and </a:t>
            </a:r>
            <a:r>
              <a:rPr lang="en-US" sz="2800" dirty="0">
                <a:solidFill>
                  <a:srgbClr val="FF0000"/>
                </a:solidFill>
                <a:latin typeface="Forte" panose="03060902040502070203" pitchFamily="66" charset="0"/>
              </a:rPr>
              <a:t>debate sessions</a:t>
            </a:r>
          </a:p>
        </p:txBody>
      </p:sp>
    </p:spTree>
    <p:extLst>
      <p:ext uri="{BB962C8B-B14F-4D97-AF65-F5344CB8AC3E}">
        <p14:creationId xmlns:p14="http://schemas.microsoft.com/office/powerpoint/2010/main" val="1130111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57612" y="223377"/>
            <a:ext cx="48810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Forte" panose="03060902040502070203" pitchFamily="66" charset="0"/>
              </a:rPr>
              <a:t>Essence of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6377" y="1764406"/>
            <a:ext cx="924703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Points are converted into </a:t>
            </a: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“TUT COINS,” </a:t>
            </a:r>
            <a:r>
              <a:rPr lang="en-US" sz="2400" dirty="0">
                <a:latin typeface="Forte" panose="03060902040502070203" pitchFamily="66" charset="0"/>
              </a:rPr>
              <a:t>which can be redrawn as cash from the app or used to defray subscription costs.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Tutors or students who score more points over a period of time gain </a:t>
            </a: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a star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When a tutor gains more stars, their ranking increases. </a:t>
            </a:r>
            <a:r>
              <a:rPr lang="en-US" sz="2400" dirty="0">
                <a:solidFill>
                  <a:srgbClr val="0070C0"/>
                </a:solidFill>
                <a:latin typeface="Forte" panose="03060902040502070203" pitchFamily="66" charset="0"/>
              </a:rPr>
              <a:t>He/she appears in more searches, and also, students can’t score them below a particular cut-off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Students who gain more stars are offered the position of </a:t>
            </a: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‘help student’.  </a:t>
            </a:r>
            <a:r>
              <a:rPr lang="en-US" sz="2400" dirty="0">
                <a:solidFill>
                  <a:srgbClr val="0070C0"/>
                </a:solidFill>
                <a:latin typeface="Forte" panose="03060902040502070203" pitchFamily="66" charset="0"/>
              </a:rPr>
              <a:t>They can also help some students and gain more points.</a:t>
            </a:r>
          </a:p>
        </p:txBody>
      </p:sp>
      <p:sp>
        <p:nvSpPr>
          <p:cNvPr id="6" name="5-Point Star 5"/>
          <p:cNvSpPr/>
          <p:nvPr/>
        </p:nvSpPr>
        <p:spPr>
          <a:xfrm>
            <a:off x="3329188" y="3296994"/>
            <a:ext cx="367048" cy="386365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596" y="0"/>
            <a:ext cx="2332283" cy="127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13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774" y="100214"/>
            <a:ext cx="2644234" cy="21278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06096" y="609743"/>
            <a:ext cx="48810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Forte" panose="03060902040502070203" pitchFamily="66" charset="0"/>
              </a:rPr>
              <a:t>TUT COINS (TK)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31843" y="2228045"/>
            <a:ext cx="655534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800" dirty="0">
                <a:latin typeface="Forte" panose="03060902040502070203" pitchFamily="66" charset="0"/>
              </a:rPr>
              <a:t>It is </a:t>
            </a:r>
            <a:r>
              <a:rPr lang="en-US" sz="2800" dirty="0">
                <a:solidFill>
                  <a:srgbClr val="FF0000"/>
                </a:solidFill>
                <a:latin typeface="Forte" panose="03060902040502070203" pitchFamily="66" charset="0"/>
              </a:rPr>
              <a:t>the official currency for the app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8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800" dirty="0">
                <a:latin typeface="Forte" panose="03060902040502070203" pitchFamily="66" charset="0"/>
              </a:rPr>
              <a:t>All payments would be made in </a:t>
            </a:r>
            <a:r>
              <a:rPr lang="en-US" sz="2800" dirty="0">
                <a:solidFill>
                  <a:srgbClr val="FF0000"/>
                </a:solidFill>
                <a:latin typeface="Forte" panose="03060902040502070203" pitchFamily="66" charset="0"/>
              </a:rPr>
              <a:t>TUT COINS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8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800" dirty="0">
                <a:latin typeface="Forte" panose="03060902040502070203" pitchFamily="66" charset="0"/>
              </a:rPr>
              <a:t>Points are also converted into TUT COINS: </a:t>
            </a:r>
            <a:r>
              <a:rPr lang="en-US" sz="2800" dirty="0">
                <a:solidFill>
                  <a:srgbClr val="FF0000"/>
                </a:solidFill>
                <a:latin typeface="Forte" panose="03060902040502070203" pitchFamily="66" charset="0"/>
              </a:rPr>
              <a:t>1 point = 20 TK; 1 TK = 50 pesewas (</a:t>
            </a:r>
            <a:r>
              <a:rPr lang="en-US" sz="2800" dirty="0">
                <a:solidFill>
                  <a:srgbClr val="7030A0"/>
                </a:solidFill>
                <a:latin typeface="Forte" panose="03060902040502070203" pitchFamily="66" charset="0"/>
              </a:rPr>
              <a:t>as an example</a:t>
            </a:r>
            <a:r>
              <a:rPr lang="en-US" sz="2800" dirty="0">
                <a:solidFill>
                  <a:srgbClr val="FF0000"/>
                </a:solidFill>
                <a:latin typeface="Forte" panose="03060902040502070203" pitchFamily="66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22302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06096" y="609743"/>
            <a:ext cx="48810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Forte" panose="03060902040502070203" pitchFamily="66" charset="0"/>
              </a:rPr>
              <a:t>Payments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12097"/>
          <a:stretch/>
        </p:blipFill>
        <p:spPr>
          <a:xfrm>
            <a:off x="0" y="0"/>
            <a:ext cx="2021866" cy="17772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1774" y="0"/>
            <a:ext cx="1800226" cy="16002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93195" y="1983346"/>
            <a:ext cx="897657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70C0"/>
                </a:solidFill>
                <a:latin typeface="Forte" panose="03060902040502070203" pitchFamily="66" charset="0"/>
              </a:rPr>
              <a:t>Any payment made into the app is automatically converted into </a:t>
            </a: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TUT COINS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Hence, </a:t>
            </a:r>
            <a:r>
              <a:rPr lang="en-US" sz="2400" dirty="0">
                <a:solidFill>
                  <a:srgbClr val="0070C0"/>
                </a:solidFill>
                <a:latin typeface="Forte" panose="03060902040502070203" pitchFamily="66" charset="0"/>
              </a:rPr>
              <a:t>the TUT COIN is the only medium for any transaction in the app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Forte" panose="03060902040502070203" pitchFamily="66" charset="0"/>
              </a:rPr>
              <a:t>Students can pay into the app using any </a:t>
            </a: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VISA card </a:t>
            </a:r>
            <a:r>
              <a:rPr lang="en-US" sz="2400" dirty="0">
                <a:latin typeface="Forte" panose="03060902040502070203" pitchFamily="66" charset="0"/>
              </a:rPr>
              <a:t>or </a:t>
            </a: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MOMO</a:t>
            </a:r>
            <a:r>
              <a:rPr lang="en-US" sz="2400" dirty="0">
                <a:latin typeface="Forte" panose="03060902040502070203" pitchFamily="66" charset="0"/>
              </a:rPr>
              <a:t> by following the instructions under </a:t>
            </a: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‘PAYMENTS’ </a:t>
            </a:r>
            <a:r>
              <a:rPr lang="en-US" sz="2400" dirty="0">
                <a:latin typeface="Forte" panose="03060902040502070203" pitchFamily="66" charset="0"/>
              </a:rPr>
              <a:t>section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2400" dirty="0">
              <a:latin typeface="Forte" panose="0306090204050207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C00000"/>
                </a:solidFill>
                <a:latin typeface="Forte" panose="03060902040502070203" pitchFamily="66" charset="0"/>
              </a:rPr>
              <a:t>Tutors would be paid by converting their accrued points into </a:t>
            </a: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TUT COINS </a:t>
            </a:r>
            <a:r>
              <a:rPr lang="en-US" sz="2400" dirty="0">
                <a:solidFill>
                  <a:srgbClr val="C00000"/>
                </a:solidFill>
                <a:latin typeface="Forte" panose="03060902040502070203" pitchFamily="66" charset="0"/>
              </a:rPr>
              <a:t>which they can redraw as cash into their </a:t>
            </a:r>
            <a:r>
              <a:rPr lang="en-US" sz="2400" dirty="0">
                <a:solidFill>
                  <a:srgbClr val="FF0000"/>
                </a:solidFill>
                <a:latin typeface="Forte" panose="03060902040502070203" pitchFamily="66" charset="0"/>
              </a:rPr>
              <a:t>MOMO or bank accounts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137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723</Words>
  <Application>Microsoft Macintosh PowerPoint</Application>
  <PresentationFormat>Widescreen</PresentationFormat>
  <Paragraphs>108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Aharoni</vt:lpstr>
      <vt:lpstr>Arial</vt:lpstr>
      <vt:lpstr>Calibri</vt:lpstr>
      <vt:lpstr>Calibri Light</vt:lpstr>
      <vt:lpstr>Forte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Joshua</dc:creator>
  <cp:lastModifiedBy>JhsLd32Rh8QqU5hA</cp:lastModifiedBy>
  <cp:revision>24</cp:revision>
  <dcterms:created xsi:type="dcterms:W3CDTF">2020-04-29T20:37:44Z</dcterms:created>
  <dcterms:modified xsi:type="dcterms:W3CDTF">2026-06-02T08:22:48Z</dcterms:modified>
</cp:coreProperties>
</file>